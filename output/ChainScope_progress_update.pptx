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10da684d24166" /><Relationship Type="http://schemas.openxmlformats.org/officeDocument/2006/relationships/extended-properties" Target="/docProps/app.xml" Id="R9f8eaa6df4c94d7d" /><Relationship Type="http://schemas.openxmlformats.org/officeDocument/2006/relationships/officeDocument" Target="/ppt/presentation.xml" Id="R42ad433ec4bd48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3e574824c3441d"/>
  </p:sldMasterIdLst>
  <p:notesMasterIdLst>
    <p:notesMasterId xmlns:r="http://schemas.openxmlformats.org/officeDocument/2006/relationships" r:id="R04876daa93554d18"/>
  </p:notesMasterIdLst>
  <p:sldIdLst>
    <p:sldId xmlns:r="http://schemas.openxmlformats.org/officeDocument/2006/relationships" id="256" r:id="R2fc1e1ec01394448"/>
    <p:sldId xmlns:r="http://schemas.openxmlformats.org/officeDocument/2006/relationships" id="257" r:id="R83af54a649f7436e"/>
    <p:sldId xmlns:r="http://schemas.openxmlformats.org/officeDocument/2006/relationships" id="258" r:id="R10eeb4183f7c4b23"/>
    <p:sldId xmlns:r="http://schemas.openxmlformats.org/officeDocument/2006/relationships" id="259" r:id="Rb3ab92b678d34a42"/>
    <p:sldId xmlns:r="http://schemas.openxmlformats.org/officeDocument/2006/relationships" id="260" r:id="R91d9b5664039453b"/>
    <p:sldId xmlns:r="http://schemas.openxmlformats.org/officeDocument/2006/relationships" id="261" r:id="R899b209e2cfb43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b5475dd9db4175" /><Relationship Type="http://schemas.openxmlformats.org/officeDocument/2006/relationships/slideMaster" Target="/ppt/slideMasters/slideMaster1.xml" Id="R323e574824c3441d" /><Relationship Type="http://schemas.openxmlformats.org/officeDocument/2006/relationships/notesMaster" Target="/ppt/notesMasters/notesMaster1.xml" Id="R04876daa93554d18" /><Relationship Type="http://schemas.openxmlformats.org/officeDocument/2006/relationships/presProps" Target="/ppt/presProps.xml" Id="R5deac64d577447a3" /><Relationship Type="http://schemas.openxmlformats.org/officeDocument/2006/relationships/tableStyles" Target="/ppt/tableStyles.xml" Id="R127dedd6cf9044eb" /><Relationship Type="http://schemas.openxmlformats.org/officeDocument/2006/relationships/slide" Target="/ppt/slides/slide1.xml" Id="R2fc1e1ec01394448" /><Relationship Type="http://schemas.openxmlformats.org/officeDocument/2006/relationships/slide" Target="/ppt/slides/slide2.xml" Id="R83af54a649f7436e" /><Relationship Type="http://schemas.openxmlformats.org/officeDocument/2006/relationships/slide" Target="/ppt/slides/slide3.xml" Id="R10eeb4183f7c4b23" /><Relationship Type="http://schemas.openxmlformats.org/officeDocument/2006/relationships/slide" Target="/ppt/slides/slide4.xml" Id="Rb3ab92b678d34a42" /><Relationship Type="http://schemas.openxmlformats.org/officeDocument/2006/relationships/slide" Target="/ppt/slides/slide5.xml" Id="R91d9b5664039453b" /><Relationship Type="http://schemas.openxmlformats.org/officeDocument/2006/relationships/slide" Target="/ppt/slides/slide6.xml" Id="R899b209e2cfb43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97e6bc29ac49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c835acb1bc4bfd" /><Relationship Type="http://schemas.openxmlformats.org/officeDocument/2006/relationships/notesMaster" Target="/ppt/notesMasters/notesMaster1.xml" Id="Rbccc7bdd386a4e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3d312e90314432" /><Relationship Type="http://schemas.openxmlformats.org/officeDocument/2006/relationships/notesMaster" Target="/ppt/notesMasters/notesMaster1.xml" Id="Re8572c7600284e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aa9b6469984b09" /><Relationship Type="http://schemas.openxmlformats.org/officeDocument/2006/relationships/notesMaster" Target="/ppt/notesMasters/notesMaster1.xml" Id="R387bed00dcfc46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31e8ecd8e74080" /><Relationship Type="http://schemas.openxmlformats.org/officeDocument/2006/relationships/notesMaster" Target="/ppt/notesMasters/notesMaster1.xml" Id="R17c29c31b2e742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8762d725404be8" /><Relationship Type="http://schemas.openxmlformats.org/officeDocument/2006/relationships/notesMaster" Target="/ppt/notesMasters/notesMaster1.xml" Id="R8a3a9639d63e4e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7ce376fc264b29" /><Relationship Type="http://schemas.openxmlformats.org/officeDocument/2006/relationships/notesMaster" Target="/ppt/notesMasters/notesMaster1.xml" Id="Rbdf9a80b90d848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working prototype for visual analysis of anomalous Bitcoin transaction patterns.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ChainScope local prototype and deterministic demo dataset.</a:t>
            </a:r>
          </a:p>
          <a:p xmlns:a="http://schemas.openxmlformats.org/drawingml/2006/main">
            <a:r>
              <a:t>- McGinn et al. (2016), Visualizing Dynamic Bitcoin Transaction Patterns.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aim is not to label criminal activity; it is to surface suspicious structural patterns for analyst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ChainScope local prototype and deterministic demo dataset.</a:t>
            </a:r>
          </a:p>
          <a:p xmlns:a="http://schemas.openxmlformats.org/drawingml/2006/main">
            <a:r>
              <a:t>- McGinn et al. (2016), Visualizing Dynamic Bitcoin Transaction Patterns.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 end reads static JSON generated by the Python pipeline. Live network ingestion is a planned next step, not yet implemented.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ChainScope local prototype and deterministic demo dataset.</a:t>
            </a:r>
          </a:p>
          <a:p xmlns:a="http://schemas.openxmlformats.org/drawingml/2006/main">
            <a:r>
              <a:t>- McGinn et al. (2016), Visualizing Dynamic Bitcoin Transaction Patterns.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detected features: 24 hops, 3.0 seconds per hop, 50 low-value side outputs, and 63.5% main-value retention.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ChainScope local prototype and deterministic demo dataset.</a:t>
            </a:r>
          </a:p>
          <a:p xmlns:a="http://schemas.openxmlformats.org/drawingml/2006/main">
            <a:r>
              <a:t>- McGinn et al. (2016), Visualizing Dynamic Bitcoin Transaction Patterns.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sequence: select the Worm cluster, fit the graph, toggle address links, and use the evidence panel to explain the risk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ChainScope local prototype and deterministic demo dataset.</a:t>
            </a:r>
          </a:p>
          <a:p xmlns:a="http://schemas.openxmlformats.org/drawingml/2006/main">
            <a:r>
              <a:t>- McGinn et al. (2016), Visualizing Dynamic Bitcoin Transaction Patterns.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Feedback requested: confirm whether the proposed scope and the Worm case are appropriate as the first complete case 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ChainScope local prototype and deterministic demo dataset.</a:t>
            </a:r>
          </a:p>
          <a:p xmlns:a="http://schemas.openxmlformats.org/drawingml/2006/main">
            <a:r>
              <a:t>- McGinn et al. (2016), Visualizing Dynamic Bitcoin Transaction Patterns.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0cf814f864c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dd544c46ec44ec" /><Relationship Type="http://schemas.openxmlformats.org/officeDocument/2006/relationships/slideLayout" Target="/ppt/slideLayouts/slideLayout1.xml" Id="Rf9120b4d34854a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120b4d34854a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0815288dc437d" /><Relationship Type="http://schemas.openxmlformats.org/officeDocument/2006/relationships/notesSlide" Target="/ppt/notesSlides/notesSlide1.xml" Id="R2db3a2c4d38d45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f81f40a654ff8" /><Relationship Type="http://schemas.openxmlformats.org/officeDocument/2006/relationships/notesSlide" Target="/ppt/notesSlides/notesSlide2.xml" Id="R1982d91b642c40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439c4bdd344a0" /><Relationship Type="http://schemas.openxmlformats.org/officeDocument/2006/relationships/notesSlide" Target="/ppt/notesSlides/notesSlide3.xml" Id="Rf78a328cd14741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794b366fd4029" /><Relationship Type="http://schemas.openxmlformats.org/officeDocument/2006/relationships/notesSlide" Target="/ppt/notesSlides/notesSlide4.xml" Id="R0b054bfdf5c942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a5ae8222c4d40" /><Relationship Type="http://schemas.openxmlformats.org/officeDocument/2006/relationships/notesSlide" Target="/ppt/notesSlides/notesSlide5.xml" Id="R47a86bee65be4c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fc257ca8042f1" /><Relationship Type="http://schemas.openxmlformats.org/officeDocument/2006/relationships/notesSlide" Target="/ppt/notesSlides/notesSlide6.xml" Id="R3ed38fb61acd40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BC030AA-BDB4-4470-98E9-F23FD2C1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ChainScope
Bitcoin Transaction Anomaly Visual Analytics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BE9D48D-AAEB-4FDB-8554-90F6CD52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Supervisor progress update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6756BEB-B99F-4706-8EBF-39229036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10112497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3369560-5247-4584-A903-232AFC92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E621B8C-0C76-428B-AD91-565C9FCE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project combines blockchain data, anomaly rules, and interactive graph visualisation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E116AEB5-281C-4112-8022-97C9093F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Bitcoin / UTXO
Spent outputs link transactions into a verifiable graph.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2D04BAFD-B609-47B3-865D-5ABC6409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Anomaly detection
Rules score topology, time, value, and address reuse.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983A083F-AB81-4474-969A-E0FB20A2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Visual analytics
An interactive graph exposes clusters and value flows.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EBF8E7C1-F45E-4320-A939-C8CB83A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7B9627AD-6031-4371-B5D5-ECBA3A42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C0B50EB8-CA9C-4ED1-9373-FD16215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8754725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4EFC0C1-3366-433A-A496-F379C3A3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EA5F9B5-E54F-44B7-A6DE-C186AF29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current pipeline turns a transaction window into an explainable anomaly cluster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F8568D0-58C3-463E-9765-02F0EBE9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1237C97-9BD8-4597-924C-6D964277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CC3BFAE-1E3B-4246-9959-A51A7571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A00F4FD-3D18-455A-AB7C-2340DAB0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 Generate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3B271B1-1B02-41DB-8755-8D79D062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 Detect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FC9BCAD-C212-4EEA-BD58-09EE9133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 Explore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C5F36B2-1980-4024-AF47-05EC5B94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Python graph and rules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UTXO lineage, detect the main path, and calculate time, value, output, and address-reuse features.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968A5C8-C859-4692-888E-FEAD4629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Synthetic transaction window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33 transactions: 8 normal context transactions and a deterministic 25-hop Worm.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7725429-A2A4-45A9-8C52-F23CDE5A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React + Cytoscape.js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generated JSON, highlight the anomaly cluster, and expose graph interaction and evidence.</a:t>
            </a:r>
          </a:p>
        </p:txBody>
      </p:sp>
    </p:spTree>
    <p:extLst>
      <p:ext uri="{BB962C8B-B14F-4D97-AF65-F5344CB8AC3E}">
        <p14:creationId xmlns:p14="http://schemas.microsoft.com/office/powerpoint/2010/main" val="3773139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333A992B-65AE-4062-A99A-238BE5E4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EAE0648-97F3-4B5A-A35E-620D5A3D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52BBD988-15DD-48EE-B627-FC688162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751B8F1A-FF6E-4F5D-A3C3-A40E664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137257A-2B9C-4204-897C-CCEFDCB4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Worm detection uses behavioural signals, not visual shape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C35DB8A-C9AD-49E6-BD2D-ABD56808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linked transactions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D40AFF4-F2C5-4F5A-A177-6B33A3BF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address reuse rate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9E54F6D-8DE0-4E86-B16D-71B1D51C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total duration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8D3056D-BB8B-4DEF-84FE-B6167D7D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CA788DB-8426-4302-ACB0-8DAD4820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72 s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D302327-4CCC-4289-A31D-747E6583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85%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E1B2BA7C-CA99-4CAF-8F74-A0E5DF9A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demonstration case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prototype follows a rapidly spent main UTXO path with repetitive addresses and frequent low-value side outputs.</a:t>
            </a:r>
          </a:p>
        </p:txBody>
      </p:sp>
    </p:spTree>
    <p:extLst>
      <p:ext uri="{BB962C8B-B14F-4D97-AF65-F5344CB8AC3E}">
        <p14:creationId xmlns:p14="http://schemas.microsoft.com/office/powerpoint/2010/main" val="1670537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A6D5DEB-E69F-4B35-AD16-6505E1E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D93E05E-192F-4C16-8A8C-BC68A8E6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is working in the prototype today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784A2DF7-A24F-45A8-945E-80D9774D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pipeline
Python generates fixtures, UTXO graphs, and JSON outputs.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DF24AF0C-C283-4BB8-A487-AEFC0868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Interactive visualisation
Zoom and inspect transactions, UTXOs, paths, and reuse links.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7513C27B-2AB8-4B6E-BBEC-524C586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Explainability
Cluster metrics explain why the pattern is unusual.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B78B1D78-2EC7-4FC6-8EA4-CDF9ED96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0353D042-9C3E-4671-AD0B-CB38A49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4DB3CE34-B4FC-4ADC-8C2C-0865DBD9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6685144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E9CA39E-9A3E-4E2B-827D-A4E28BB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Real-time
visual analysis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D0F9D5C-55BE-40F8-90ED-1BE55251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 time-window playback and stream-like ingestion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Improve inspection; add Cycle and Mixing patterns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D9EFFC7-616C-499D-A1D1-FD03EA13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milestone</a:t>
            </a:r>
          </a:p>
        </p:txBody>
      </p:sp>
    </p:spTree>
    <p:extLst>
      <p:ext uri="{BB962C8B-B14F-4D97-AF65-F5344CB8AC3E}">
        <p14:creationId xmlns:p14="http://schemas.microsoft.com/office/powerpoint/2010/main" val="2037246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2026-08-06T08:39:03.7350000Z</dcterms:created>
  <dcterms:modified xsi:type="dcterms:W3CDTF">2026-08-06T08:39:03.7350000Z</dcterms:modified>
</coreProperties>
</file>